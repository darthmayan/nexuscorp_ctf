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3AD"/>
                </a:solidFill>
                <a:latin typeface="Calibri"/>
              </a:rPr>
              <a:t>CAPTURE THE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41725"/>
                </a:solidFill>
                <a:latin typeface="Calibri"/>
              </a:rPr>
              <a:t>NEXUS Corp CTF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5A5D72"/>
                </a:solidFill>
                <a:latin typeface="Calibri"/>
              </a:rPr>
              <a:t>Seis retos, seis vulnerabilidades web reales.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548640" cy="36576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5D72"/>
                </a:solidFill>
                <a:latin typeface="Calibri"/>
              </a:rPr>
              <a:t>Hackeo Ético y Recuperación Ante Desastres  ·  UP 8vo Semestre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41725"/>
                </a:solidFill>
                <a:latin typeface="Calibri"/>
              </a:rPr>
              <a:t>Carlos  · 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669280"/>
            <a:ext cx="11887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0A3AD"/>
                </a:solidFill>
                <a:latin typeface="Calibri"/>
              </a:rPr>
              <a:t>FLASK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5669280"/>
            <a:ext cx="11887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568756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0A3AD"/>
                </a:solidFill>
                <a:latin typeface="Calibri"/>
              </a:rP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669280"/>
            <a:ext cx="11887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1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68756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1A3D"/>
                </a:solidFill>
                <a:latin typeface="Calibri"/>
              </a:rPr>
              <a:t>HYDRA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5669280"/>
            <a:ext cx="11887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1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568756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1A3D"/>
                </a:solidFill>
                <a:latin typeface="Calibri"/>
              </a:rPr>
              <a:t>SQLMAP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669280"/>
            <a:ext cx="11887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568756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E57A00"/>
                </a:solidFill>
                <a:latin typeface="Calibri"/>
              </a:rPr>
              <a:t>HASHCAT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5669280"/>
            <a:ext cx="11887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3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5687568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8B3EE5"/>
                </a:solidFill>
                <a:latin typeface="Calibri"/>
              </a:rPr>
              <a:t>FFUF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01 ·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¿Qué es NEXUS Corp CTF?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Plataforma web educativa (Flask + SQLite) que simula la infraestructura comprometida de una corporación ficticia, NEXUS Corp.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El jugador progresa resolviendo 6 retos encadenados, cada uno réplica de una vulnerabilidad real del OWASP Top 10.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34290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657600"/>
            <a:ext cx="109728" cy="21945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725"/>
                </a:solidFill>
                <a:latin typeface="Calibri"/>
              </a:rPr>
              <a:t>Objetivo didáctico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891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alibri"/>
              </a:rPr>
              <a:t>Aprender pentesting web con herramientas estándar de la industria en un entorno controlado.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3657600"/>
            <a:ext cx="34290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3657600"/>
            <a:ext cx="109728" cy="219456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384048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725"/>
                </a:solidFill>
                <a:latin typeface="Calibri"/>
              </a:rPr>
              <a:t>Narrativa encadenada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3891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alibri"/>
              </a:rPr>
              <a:t>Cada reto entrega credenciales o pistas que habilitan el siguiente. No hay atajos.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657600"/>
            <a:ext cx="34290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3657600"/>
            <a:ext cx="109728" cy="2194560"/>
          </a:xfrm>
          <a:prstGeom prst="rect">
            <a:avLst/>
          </a:prstGeom>
          <a:solidFill>
            <a:srgbClr val="8B3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3840480"/>
            <a:ext cx="3063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41725"/>
                </a:solidFill>
                <a:latin typeface="Calibri"/>
              </a:rPr>
              <a:t>Stack minimalista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4389120"/>
            <a:ext cx="30632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alibri"/>
              </a:rPr>
              <a:t>Flask, SQLite, Jinja2 y CSS puro. Docker para despliegue reproducible.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02 · TEMÁTICA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La corporación NEXUS Corp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725"/>
                </a:solidFill>
                <a:latin typeface="Calibri"/>
              </a:rPr>
              <a:t>Ambientación cyberpunk corporativa: una multinacional ficticia con portal de empleados, RRHH, servicios internos y un CEO Vault clasificado.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43200"/>
            <a:ext cx="1060704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91440" cy="45720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346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A3AD"/>
                </a:solidFill>
                <a:latin typeface="Calibri"/>
              </a:rP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8346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725"/>
                </a:solidFill>
                <a:latin typeface="Calibri"/>
              </a:rPr>
              <a:t>Portal de empleados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8346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onsolas"/>
              </a:rPr>
              <a:t>Fuerza bruta (Hydra)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1060704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91440" cy="457200"/>
          </a:xfrm>
          <a:prstGeom prst="rect">
            <a:avLst/>
          </a:prstGeom>
          <a:solidFill>
            <a:srgbClr val="E5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1A3D"/>
                </a:solidFill>
                <a:latin typeface="Calibri"/>
              </a:rP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33756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725"/>
                </a:solidFill>
                <a:latin typeface="Calibri"/>
              </a:rPr>
              <a:t>Base de datos RRHH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33756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onsolas"/>
              </a:rPr>
              <a:t>SQL Injection (sqlmap)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49040"/>
            <a:ext cx="1060704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49040"/>
            <a:ext cx="91440" cy="45720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7A00"/>
                </a:solidFill>
                <a:latin typeface="Calibri"/>
              </a:rPr>
              <a:t>Level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725"/>
                </a:solidFill>
                <a:latin typeface="Calibri"/>
              </a:rPr>
              <a:t>Hash del operador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4048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onsolas"/>
              </a:rPr>
              <a:t>Hash cracking (Hashcat)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51960"/>
            <a:ext cx="91440" cy="457200"/>
          </a:xfrm>
          <a:prstGeom prst="rect">
            <a:avLst/>
          </a:prstGeom>
          <a:solidFill>
            <a:srgbClr val="009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434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995C"/>
                </a:solidFill>
                <a:latin typeface="Calibri"/>
              </a:rPr>
              <a:t>Level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34340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725"/>
                </a:solidFill>
                <a:latin typeface="Calibri"/>
              </a:rPr>
              <a:t>Servidor SSH interno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34340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onsolas"/>
              </a:rPr>
              <a:t>Enumeración de archivos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754880"/>
            <a:ext cx="91440" cy="457200"/>
          </a:xfrm>
          <a:prstGeom prst="rect">
            <a:avLst/>
          </a:prstGeom>
          <a:solidFill>
            <a:srgbClr val="8B3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8463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B3EE5"/>
                </a:solidFill>
                <a:latin typeface="Calibri"/>
              </a:rPr>
              <a:t>Level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84632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725"/>
                </a:solidFill>
                <a:latin typeface="Calibri"/>
              </a:rPr>
              <a:t>Directorio LDAP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8463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onsolas"/>
              </a:rPr>
              <a:t>Enumeración LDAP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91440" cy="45720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34924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A3AD"/>
                </a:solidFill>
                <a:latin typeface="Calibri"/>
              </a:rPr>
              <a:t>Level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3492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725"/>
                </a:solidFill>
                <a:latin typeface="Calibri"/>
              </a:rPr>
              <a:t>Vault API del CEO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34924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D72"/>
                </a:solidFill>
                <a:latin typeface="Consolas"/>
              </a:rPr>
              <a:t>API fuzzing (ffuf)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LEVEL 1 · 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Fuerza bruta en autenticación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Un formulario de login sin límite de intentos ni captcha permite probar miles de combinaciones usuario/contraseña hasta encontrar una válida.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Raíz del problema: ausencia de rate-limiting, lockout y MFA.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Contraseñas débiles o por defecto (admin/admin, root/toor) aceleran el ataque.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OWASP Top 10 — A07:2021 Identification &amp; Authentication Failures.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Impacto: toma total de cuentas, escalado a datos internos.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LEVEL 1 ·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Hydra contra el portal de empleados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Identificar el endpoint de login y los campos del formulario.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Detectar el mensaje de fallo ("Login failed") para filtrar.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Lanzar Hydra con usuario fijo y diccionario de contraseñas.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Probar manualmente la credencial obtenida.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COMANDO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57400"/>
            <a:ext cx="5486400" cy="30175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167128"/>
            <a:ext cx="521208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hydra -l admin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-P /usr/share/wordlists/rockyou.txt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TARGET http-post-form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"/level/1/login:"\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"username=^USER^&amp;password=^PASS^:"\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"Login failed"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212080"/>
            <a:ext cx="548640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5212080"/>
            <a:ext cx="91440" cy="10515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52578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A3AD"/>
                </a:solidFill>
                <a:latin typeface="Calibri"/>
              </a:rPr>
              <a:t>PALABRA CLAVE EN DICCIONARIO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32120"/>
            <a:ext cx="5303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La palabra "admin" debe estar presente en el diccionario. rockyou.txt ya la contiene.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E5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1A3D"/>
                </a:solidFill>
                <a:latin typeface="Calibri"/>
              </a:rPr>
              <a:t>LEVEL 2 · 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SQL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La aplicación concatena input del usuario directamente en una consulta SQL, permitiendo al atacante modificar la lógica de la query y leer tablas arbitrarias.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1A3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Causa: consultas construidas con f-strings o concatenación en lugar de parámetros.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1A3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Técnicas: UNION-based, boolean-blind, error-based, time-based.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1A3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OWASP Top 10 — A03:2021 Injection.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1A3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Impacto: exfiltración de bases de datos completas, escritura y RCE en algunos motores.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E5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1A3D"/>
                </a:solidFill>
                <a:latin typeface="Calibri"/>
              </a:rPr>
              <a:t>LEVEL 2 ·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sqlmap contra /level/2/search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1A3D"/>
                </a:solidFill>
                <a:latin typeface="Calibri"/>
              </a:rPr>
              <a:t>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1A3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Detectar el parámetro vulnerable (search) en modo JSON.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1A3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sqlmap identifica UNION-based automáticamente.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1A3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Enumerar tablas y volcar ssh_credentials.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1A3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Obtener el hash MD5 de sysop para el Level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1A3D"/>
                </a:solidFill>
                <a:latin typeface="Calibri"/>
              </a:rPr>
              <a:t>COMANDO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57400"/>
            <a:ext cx="5486400" cy="30175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167128"/>
            <a:ext cx="521208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sqlmap -u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"http://TARGET:5000/level/2/search"\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"?search=test&amp;format=json"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-T ssh_credentials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--dump --batch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7A00"/>
                </a:solidFill>
                <a:latin typeface="Calibri"/>
              </a:rPr>
              <a:t>LEVEL 3 · 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Hash cracking de contraseñas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Cuando se filtra una base de datos con hashes de contraseñas, un atacante puede revertirlos offline si el algoritmo es débil o no usa salt.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7A00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MD5 y SHA1 sin salt se rompen a miles de millones de hashes por segundo con GPU.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7A00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Diccionarios + reglas (rockyou + rules) cubren la mayoría de contraseñas humanas.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7A00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OWASP Top 10 — A02:2021 Cryptographic Failures.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E57A00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Impacto: reutilización de credenciales en otros servicios (credential stuffing).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7A00"/>
                </a:solidFill>
                <a:latin typeface="Calibri"/>
              </a:rPr>
              <a:t>LEVEL 3 ·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Hashcat contra MD5 de sysop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7A00"/>
                </a:solidFill>
                <a:latin typeface="Calibri"/>
              </a:rPr>
              <a:t>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7A00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Guardar el hash obtenido del Level 2 en un archivo.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7A00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Lanzar hashcat en modo 0 (MD5) contra el diccionario.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7A00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Si rockyou.txt no lo contiene, añadir la contraseña a un wordlist custom.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E57A00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Enviar la contraseña encontrada en /level/3/verify.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57A00"/>
                </a:solidFill>
                <a:latin typeface="Calibri"/>
              </a:rPr>
              <a:t>COMANDO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57400"/>
            <a:ext cx="5486400" cy="30175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167128"/>
            <a:ext cx="521208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echo "98ae336a33cb54a3d5effde7"\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   "f32c06c8" &gt; hash.txt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hashcat -m 0 hash.txt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/usr/share/wordlists/rockyou.txt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# Si no está en rockyou: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echo "Op3r4t0r!" &gt;&gt; custom.txt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hashcat -m 0 hash.txt custom.txt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212080"/>
            <a:ext cx="548640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5212080"/>
            <a:ext cx="91440" cy="105156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52578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57A00"/>
                </a:solidFill>
                <a:latin typeface="Calibri"/>
              </a:rPr>
              <a:t>PALABRA CLAVE EN DICCIONARIO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32120"/>
            <a:ext cx="5303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La palabra exacta a encontrar es Op3r4t0r! — no existe en rockyou.txt, requiere un wordlist custom.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9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995C"/>
                </a:solidFill>
                <a:latin typeface="Calibri"/>
              </a:rPr>
              <a:t>LEVEL 4 · 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Enumeración post-explotación en SSH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Una vez dentro del host, archivos de configuración, historiales y dumps de debug dejados por los desarrolladores revelan credenciales y arquitectura interna.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995C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Problema: información sensible en el filesystem (.bash_history, /tmp, notes.txt, backup.key).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995C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Permisos laxos exponen estos archivos a cualquier usuario autenticado.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995C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OWASP Top 10 — A05:2021 Security Misconfiguration.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995C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Impacto: pivoting hacia otros servicios (LDAP, DBs, APIs internas).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9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995C"/>
                </a:solidFill>
                <a:latin typeface="Calibri"/>
              </a:rPr>
              <a:t>LEVEL 4 ·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Exploración del filesystem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995C"/>
                </a:solidFill>
                <a:latin typeface="Calibri"/>
              </a:rPr>
              <a:t>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995C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Login simulado con sysop / Op3r4t0r! (obtenido en Level 3).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995C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Listar el home y leer notes.txt y .bash_history.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995C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Consultar /etc/nexus/ldap.conf y backup.key para el Level 5.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995C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Un único comando devuelve la flag del reto.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995C"/>
                </a:solidFill>
                <a:latin typeface="Calibri"/>
              </a:rPr>
              <a:t>COMANDO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57400"/>
            <a:ext cx="5486400" cy="30175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167128"/>
            <a:ext cx="521208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$ ls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$ cat notes.txt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$ cat .bash_history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$ cat /etc/nexus/ldap.conf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$ cat /etc/nexus/backup.key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# Comando que entrega la flag: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$ cat /tmp/debug_dump.txt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8B3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3EE5"/>
                </a:solidFill>
                <a:latin typeface="Calibri"/>
              </a:rPr>
              <a:t>LEVEL 5 · 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Enumeración LDAP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Un directorio LDAP mal configurado (anonymous bind, ACLs amplias) permite listar usuarios, grupos y hasta hashes de contraseñas.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B3EE5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Problema: anonymous bind habilitado y credenciales administrativas reutilizadas.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B3EE5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Con credenciales de admin LDAP se exponen atributos sensibles (userPassword).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B3EE5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OWASP Top 10 — A01:2021 Broken Access Control.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B3EE5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Impacto: acceso a cuentas de servicio con privilegios elevados.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8B3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3EE5"/>
                </a:solidFill>
                <a:latin typeface="Calibri"/>
              </a:rPr>
              <a:t>LEVEL 5 ·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Bind administrativo contra el directorio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3EE5"/>
                </a:solidFill>
                <a:latin typeface="Calibri"/>
              </a:rPr>
              <a:t>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8B3EE5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Primer query anónimo revela la estructura pero oculta hashes.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8B3EE5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Repetir con credenciales admin obtenidas en Level 4.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8B3EE5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Localizar la entrada vault_svc (clearance_level = 5).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8B3EE5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Copiar el hash SHA256 de userPassword para el Level 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3EE5"/>
                </a:solidFill>
                <a:latin typeface="Calibri"/>
              </a:rPr>
              <a:t>COMANDO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57400"/>
            <a:ext cx="5486400" cy="30175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167128"/>
            <a:ext cx="521208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# Parámetros del formulario /level/5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Bind DN:   cn=admin,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         dc=nexuscorp,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         dc=local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Password:  Ldap@dm1n_2024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Base DN:   dc=nexuscorp,dc=local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Filter:    (objectClass=*)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Attrs:    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LEVEL 6 · ¿QUÉ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API fuzzing para descubrir recursos ocultos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725"/>
                </a:solidFill>
                <a:latin typeface="Calibri"/>
              </a:rPr>
              <a:t>Endpoints y parámetros no documentados que la aplicación sirve si se conocen sus nombres. Un atacante los descubre enviando miles de peticiones con un diccionario.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Security through obscurity: la API existe pero no está listada públicamente.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Autenticación única por header (X-Vault-Token) sin rotación.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OWASP API Top 10 — API9:2023 Improper Inventory Management.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0A3AD"/>
                </a:solidFill>
                <a:latin typeface="Calibri"/>
              </a:rPr>
              <a:t>▸  </a:t>
            </a:r>
            <a:r>
              <a:rPr sz="1500">
                <a:solidFill>
                  <a:srgbClr val="141725"/>
                </a:solidFill>
                <a:latin typeface="Calibri"/>
              </a:rPr>
              <a:t>Impacto: acceso a documentos clasificados, logs, backups.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LEVEL 6 · EXPLOIT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ffuf en dos fases: endpoints + doc_id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PASOS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Crackear el hash SHA256 de vault_svc (V4ult_M4st3r_K3y!).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Descargar el wordlist público de la API.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Fase 1 — descubrir endpoints válidos filtrando 404.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Fase 2 — fuzzear doc_id (1–95) filtrando por tamaño común.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00A3AD"/>
                </a:solidFill>
                <a:latin typeface="Calibri"/>
              </a:rPr>
              <a:t>▸  </a:t>
            </a:r>
            <a:r>
              <a:rPr sz="1400">
                <a:solidFill>
                  <a:srgbClr val="141725"/>
                </a:solidFill>
                <a:latin typeface="Calibri"/>
              </a:rPr>
              <a:t>doc_id=73 devuelve los documentos clasificados con la flag.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COMANDO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57400"/>
            <a:ext cx="5486400" cy="30175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167128"/>
            <a:ext cx="5212080" cy="279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TOKEN='V4ult_M4st3r_K3y!'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ffuf -w api-wordlist.txt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-H "X-Vault-Token: $TOKEN"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-u TARGET/level/6/vault-api/FUZZ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-fc 404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seq 1 95 &gt; nums.txt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ffuf -w nums.txt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-H "X-Vault-Token: $TOKEN"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-u TARGET/.../archives?doc_id=FUZZ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141725"/>
                </a:solidFill>
                <a:latin typeface="Consolas"/>
              </a:rPr>
              <a:t>  -fs 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5212080"/>
            <a:ext cx="5486400" cy="105156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5212080"/>
            <a:ext cx="91440" cy="10515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52578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A3AD"/>
                </a:solidFill>
                <a:latin typeface="Calibri"/>
              </a:rPr>
              <a:t>PALABRA CLAVE EN DICCIONARIO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32120"/>
            <a:ext cx="53035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La palabra exacta a encontrar (previo hash crack) es V4ult_M4st3r_K3y! — requiere wordlist custom. El doc_id ganador es 73.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03 ·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¿Por qué asegurar cada una?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61188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91440" cy="141732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3AD"/>
                </a:solidFill>
                <a:latin typeface="Calibri"/>
              </a:rPr>
              <a:t>Brute-force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32461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Compromete cuentas administrativas en minutos. Pivote a todo el stack.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61188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91440" cy="1417320"/>
          </a:xfrm>
          <a:prstGeom prst="rect">
            <a:avLst/>
          </a:prstGeom>
          <a:solidFill>
            <a:srgbClr val="E5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9659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1A3D"/>
                </a:solidFill>
                <a:latin typeface="Calibri"/>
              </a:rPr>
              <a:t>SQL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331720"/>
            <a:ext cx="32461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Exfiltración total de la base de datos. Cumplimiento GDPR, LGPD, HIPAA.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828800"/>
            <a:ext cx="361188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91440" cy="141732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196596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7A00"/>
                </a:solidFill>
                <a:latin typeface="Calibri"/>
              </a:rPr>
              <a:t>Hashes débiles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331720"/>
            <a:ext cx="32461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Credential stuffing contra otros servicios (Office 365, bancos, VPN).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361188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83280"/>
            <a:ext cx="91440" cy="1417320"/>
          </a:xfrm>
          <a:prstGeom prst="rect">
            <a:avLst/>
          </a:prstGeom>
          <a:solidFill>
            <a:srgbClr val="009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5204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95C"/>
                </a:solidFill>
                <a:latin typeface="Calibri"/>
              </a:rPr>
              <a:t>Misconfig / archivos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86200"/>
            <a:ext cx="32461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Filtra arquitectura y credenciales internas; acelera el movimiento lateral.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3383280"/>
            <a:ext cx="361188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383280"/>
            <a:ext cx="91440" cy="1417320"/>
          </a:xfrm>
          <a:prstGeom prst="rect">
            <a:avLst/>
          </a:prstGeom>
          <a:solidFill>
            <a:srgbClr val="8B3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79" y="35204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B3EE5"/>
                </a:solidFill>
                <a:latin typeface="Calibri"/>
              </a:rPr>
              <a:t>LDAP abierto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3886200"/>
            <a:ext cx="32461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El directorio es la columna vertebral del SSO corporativo. Compromiso = dominio.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383280"/>
            <a:ext cx="361188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383280"/>
            <a:ext cx="91440" cy="141732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9" y="35204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3AD"/>
                </a:solidFill>
                <a:latin typeface="Calibri"/>
              </a:rPr>
              <a:t>APIs ocultas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3886200"/>
            <a:ext cx="324612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41725"/>
                </a:solidFill>
                <a:latin typeface="Calibri"/>
              </a:rPr>
              <a:t>Shadow endpoints bypassan WAF y logging; exponen datos confidenciales sin auditar.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6636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5D72"/>
                </a:solidFill>
                <a:latin typeface="Calibri"/>
              </a:rPr>
              <a:t>Cada vulnerabilidad es una puerta. Una sola puerta abierta permite al atacante encadenar las demás — exactamente lo que simula este CTF.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1148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04 · MITIGACIÓN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1725"/>
                </a:solidFill>
                <a:latin typeface="Calibri"/>
              </a:rPr>
              <a:t>La forma más sencilla de asegurarlas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0607040" cy="18288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3AD"/>
                </a:solidFill>
                <a:latin typeface="Calibri"/>
              </a:rPr>
              <a:t>BIBLIOTECAS ESPECÍFICAS (Python / Flask)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3611880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14300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6712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D"/>
                </a:solidFill>
                <a:latin typeface="Consolas"/>
              </a:rPr>
              <a:t>Flask-Limiter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1725"/>
                </a:solidFill>
                <a:latin typeface="Calibri"/>
              </a:rPr>
              <a:t>Rate-limiting por IP y por usuario. Cierra Level 1 y 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057400"/>
            <a:ext cx="3611880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057400"/>
            <a:ext cx="91440" cy="1143000"/>
          </a:xfrm>
          <a:prstGeom prst="rect">
            <a:avLst/>
          </a:prstGeom>
          <a:solidFill>
            <a:srgbClr val="E51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16712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1A3D"/>
                </a:solidFill>
                <a:latin typeface="Consolas"/>
              </a:rPr>
              <a:t>SQLAlchemy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51460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1725"/>
                </a:solidFill>
                <a:latin typeface="Calibri"/>
              </a:rPr>
              <a:t>Queries parametrizadas por defecto. Cierra Level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057400"/>
            <a:ext cx="3611880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057400"/>
            <a:ext cx="91440" cy="1143000"/>
          </a:xfrm>
          <a:prstGeom prst="rect">
            <a:avLst/>
          </a:prstGeom>
          <a:solidFill>
            <a:srgbClr val="E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199" y="216712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57A00"/>
                </a:solidFill>
                <a:latin typeface="Consolas"/>
              </a:rPr>
              <a:t>Argon2-cffi / bcrypt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251460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1725"/>
                </a:solidFill>
                <a:latin typeface="Calibri"/>
              </a:rPr>
              <a:t>Hash lento con salt. Cierra Level 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291840"/>
            <a:ext cx="3611880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291840"/>
            <a:ext cx="91440" cy="1143000"/>
          </a:xfrm>
          <a:prstGeom prst="rect">
            <a:avLst/>
          </a:prstGeom>
          <a:solidFill>
            <a:srgbClr val="009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40156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995C"/>
                </a:solidFill>
                <a:latin typeface="Consolas"/>
              </a:rPr>
              <a:t>Flask-Talisman + python-dotenv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74904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1725"/>
                </a:solidFill>
                <a:latin typeface="Calibri"/>
              </a:rPr>
              <a:t>Headers seguros y secretos fuera del repo. Cierra Level 4.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3291840"/>
            <a:ext cx="3611880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3291840"/>
            <a:ext cx="91440" cy="1143000"/>
          </a:xfrm>
          <a:prstGeom prst="rect">
            <a:avLst/>
          </a:prstGeom>
          <a:solidFill>
            <a:srgbClr val="8B3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40156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3EE5"/>
                </a:solidFill>
                <a:latin typeface="Consolas"/>
              </a:rPr>
              <a:t>ldap3 + ACLs estrictas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374904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1725"/>
                </a:solidFill>
                <a:latin typeface="Calibri"/>
              </a:rPr>
              <a:t>Deshabilitar anonymous bind, mínimo privilegio. Cierra Level 5.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291840"/>
            <a:ext cx="3611880" cy="11430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291840"/>
            <a:ext cx="91440" cy="114300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199" y="3401568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D"/>
                </a:solidFill>
                <a:latin typeface="Consolas"/>
              </a:rPr>
              <a:t>Flask-Smorest / APISpec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749040"/>
            <a:ext cx="3246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1725"/>
                </a:solidFill>
                <a:latin typeface="Calibri"/>
              </a:rPr>
              <a:t>Inventario y OpenAPI firmado. Cierra Level 6.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663440"/>
            <a:ext cx="10607040" cy="16002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4663440"/>
            <a:ext cx="109728" cy="160020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00600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D"/>
                </a:solidFill>
                <a:latin typeface="Calibri"/>
              </a:rPr>
              <a:t>MENTE CIBERSEGURA — desarrollo seguro por defecto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206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00A3AD"/>
                </a:solidFill>
                <a:latin typeface="Calibri"/>
              </a:rPr>
              <a:t>▸  </a:t>
            </a:r>
            <a:r>
              <a:rPr sz="1200">
                <a:solidFill>
                  <a:srgbClr val="141725"/>
                </a:solidFill>
                <a:latin typeface="Calibri"/>
              </a:rPr>
              <a:t>Asumir compromiso: validar entrada, negar por defecto, defensa en profundidad.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00A3AD"/>
                </a:solidFill>
                <a:latin typeface="Calibri"/>
              </a:rPr>
              <a:t>▸  </a:t>
            </a:r>
            <a:r>
              <a:rPr sz="1200">
                <a:solidFill>
                  <a:srgbClr val="141725"/>
                </a:solidFill>
                <a:latin typeface="Calibri"/>
              </a:rPr>
              <a:t>Principio de mínimo privilegio en credenciales, roles y rutas.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00A3AD"/>
                </a:solidFill>
                <a:latin typeface="Calibri"/>
              </a:rPr>
              <a:t>▸  </a:t>
            </a:r>
            <a:r>
              <a:rPr sz="1200">
                <a:solidFill>
                  <a:srgbClr val="141725"/>
                </a:solidFill>
                <a:latin typeface="Calibri"/>
              </a:rPr>
              <a:t>Secrets fuera del código; rotación automática; MFA en todo acceso administrativo.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00A3AD"/>
                </a:solidFill>
                <a:latin typeface="Calibri"/>
              </a:rPr>
              <a:t>▸  </a:t>
            </a:r>
            <a:r>
              <a:rPr sz="1200">
                <a:solidFill>
                  <a:srgbClr val="141725"/>
                </a:solidFill>
                <a:latin typeface="Calibri"/>
              </a:rPr>
              <a:t>Logging + alertas en endpoints sensibles; revisar SIEM semanalmente.</a:t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00A3AD"/>
                </a:solidFill>
                <a:latin typeface="Calibri"/>
              </a:rPr>
              <a:t>▸  </a:t>
            </a:r>
            <a:r>
              <a:rPr sz="1200">
                <a:solidFill>
                  <a:srgbClr val="141725"/>
                </a:solidFill>
                <a:latin typeface="Calibri"/>
              </a:rPr>
              <a:t>SAST + DAST + dependencias auditadas (pip-audit, Bandit) en CI/CD.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NEXUS Corp CTF · Carlos ·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5D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